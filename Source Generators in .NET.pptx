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b43a2e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b43a2e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f79b360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f79b360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b43a2e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b43a2e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2f79b360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2f79b360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f79b360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2f79b360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2b43a2ed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2b43a2ed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f79b360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f79b360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2b43a2e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2b43a2e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2f79b36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2f79b36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2f79b36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2f79b36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2f79b360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2f79b36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2f79b360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2f79b360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2f79b360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2f79b360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2b43a2ed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2b43a2ed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2f79b360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2f79b360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f79b360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2f79b360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2f79b360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2f79b360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2f79b360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2f79b360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2f79b360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2f79b360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2b43a2ed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2b43a2ed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2f79b360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2f79b360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2f79b360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2f79b360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2b43a2ed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2b43a2ed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2b43a2ed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2b43a2ed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2b43a2ed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2b43a2ed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blogs.microsoft.com/dotnet/introducing-c-source-generators/" TargetMode="External"/><Relationship Id="rId4" Type="http://schemas.openxmlformats.org/officeDocument/2006/relationships/hyperlink" Target="https://andrewlock.net/creating-a-source-generator-part-1-creating-an-incremental-source-generator/" TargetMode="External"/><Relationship Id="rId5" Type="http://schemas.openxmlformats.org/officeDocument/2006/relationships/hyperlink" Target="https://github.com/amis92/csharp-source-generator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Generators in .NET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Michal Horák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Source Generators?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5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C</a:t>
            </a:r>
            <a:r>
              <a:rPr b="1" lang="en" sz="1900"/>
              <a:t>ompile-time</a:t>
            </a:r>
            <a:r>
              <a:rPr lang="en" sz="1900"/>
              <a:t> code generation feature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Allows to generate additional source code during compilation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Part of the </a:t>
            </a:r>
            <a:r>
              <a:rPr b="1" lang="en" sz="1900"/>
              <a:t>Roslyn compiler platform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Works with </a:t>
            </a:r>
            <a:r>
              <a:rPr b="1" lang="en" sz="1900"/>
              <a:t>.NET Standard 2.0</a:t>
            </a:r>
            <a:endParaRPr b="1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Source Generators work?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28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Input: </a:t>
            </a:r>
            <a:r>
              <a:rPr lang="en"/>
              <a:t>The compiler feeds the generator with metadata, syntax trees, and semantic information about your 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Execution: </a:t>
            </a:r>
            <a:r>
              <a:rPr lang="en"/>
              <a:t>Your generator code analyzes this input and generates new C# code.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Output:</a:t>
            </a:r>
            <a:r>
              <a:rPr lang="en"/>
              <a:t> The generated code is compiled alongside your original code, resulting in a single, optimized assembly.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Source Generators work?</a:t>
            </a:r>
            <a:r>
              <a:rPr lang="en"/>
              <a:t> </a:t>
            </a:r>
            <a:r>
              <a:rPr lang="en">
                <a:solidFill>
                  <a:srgbClr val="B7B7B7"/>
                </a:solidFill>
              </a:rPr>
              <a:t>- Characteristics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Compile-time generation</a:t>
            </a:r>
            <a:r>
              <a:rPr lang="en" sz="1600"/>
              <a:t> - Generates code before runtime, improving performance and reducing runtime dependencies.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Seamless integration</a:t>
            </a:r>
            <a:r>
              <a:rPr lang="en" sz="1600"/>
              <a:t> - Works with existing .NET tooling (Visual Studio, dotnet CLI, etc.).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Attribute-based</a:t>
            </a:r>
            <a:r>
              <a:rPr lang="en" sz="1600"/>
              <a:t> - Often triggered by custom attributes, making it easy to integrate with libraries.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Incremental</a:t>
            </a:r>
            <a:r>
              <a:rPr lang="en" sz="1600"/>
              <a:t> - Only regenerates code when inputs change, improving build times.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No runtime overhead</a:t>
            </a:r>
            <a:r>
              <a:rPr lang="en" sz="1600"/>
              <a:t> - Generated code is compiled into the assembly, not interpreted at runtime.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Works with analyzers</a:t>
            </a:r>
            <a:r>
              <a:rPr lang="en" sz="1600"/>
              <a:t> - Can be combined with Roslyn analyzers for advanced scenarios.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Source Generators? </a:t>
            </a:r>
            <a:r>
              <a:rPr lang="en">
                <a:solidFill>
                  <a:srgbClr val="B7B7B7"/>
                </a:solidFill>
              </a:rPr>
              <a:t>- Use cases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1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Boilerplate reduction</a:t>
            </a:r>
            <a:r>
              <a:rPr lang="en"/>
              <a:t> - INotifyPropertyChanged, Equals, GetHashCode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Serialization/Deserialization</a:t>
            </a:r>
            <a:r>
              <a:rPr lang="en"/>
              <a:t> - JSON, XML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Dependency Injection</a:t>
            </a:r>
            <a:r>
              <a:rPr lang="en"/>
              <a:t> - auto-registering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API generation</a:t>
            </a:r>
            <a:r>
              <a:rPr lang="en"/>
              <a:t> - OpenAPI/Swagger clients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Performance optimizations</a:t>
            </a:r>
            <a:r>
              <a:rPr lang="en"/>
              <a:t> - inlining, caching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Dynamic proxy generation</a:t>
            </a:r>
            <a:r>
              <a:rPr lang="en"/>
              <a:t> - AOP, mocking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Source Generators? </a:t>
            </a:r>
            <a:r>
              <a:rPr lang="en">
                <a:solidFill>
                  <a:srgbClr val="B7B7B7"/>
                </a:solidFill>
              </a:rPr>
              <a:t>- Advantages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56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Performance </a:t>
            </a:r>
            <a:r>
              <a:rPr lang="en"/>
              <a:t>- Generated code is compiled, not interpreted, improving runtime performance.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Compile-time safety</a:t>
            </a:r>
            <a:r>
              <a:rPr lang="en"/>
              <a:t> - Catches errors during compilation, not at runtime.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Reduced boilerplate</a:t>
            </a:r>
            <a:r>
              <a:rPr lang="en"/>
              <a:t> - Eliminates repetitive code, making codebases cleaner and more maintainable.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No runtime dependencies </a:t>
            </a:r>
            <a:r>
              <a:rPr lang="en"/>
              <a:t>- Generated code is part of the assembly, so no additional libraries are needed.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Incremental builds</a:t>
            </a:r>
            <a:r>
              <a:rPr lang="en"/>
              <a:t> - Only regenerates code when inputs change, speeding up build times.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Integration with .NET ecosystem</a:t>
            </a:r>
            <a:r>
              <a:rPr lang="en"/>
              <a:t> - Works seamlessly with IDEs, dotnet CLI, and other tooling.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Flexibility </a:t>
            </a:r>
            <a:r>
              <a:rPr lang="en"/>
              <a:t>- Can generate any valid C# code, from simple methods to complex classes.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use Source Generators? </a:t>
            </a:r>
            <a:r>
              <a:rPr lang="en">
                <a:solidFill>
                  <a:srgbClr val="B7B7B7"/>
                </a:solidFill>
              </a:rPr>
              <a:t>- Disadvantages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Learning curve</a:t>
            </a:r>
            <a:r>
              <a:rPr lang="en"/>
              <a:t> - Requires understanding of Roslyn APIs and compilation concepts.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Debugging complexity</a:t>
            </a:r>
            <a:r>
              <a:rPr lang="en"/>
              <a:t> - Generated code is not visible in the debugger, making debugging harder.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Build-time impact</a:t>
            </a:r>
            <a:r>
              <a:rPr lang="en"/>
              <a:t> - Can slow down compilation if overused or poorly optimized.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Limited runtime behavior</a:t>
            </a:r>
            <a:r>
              <a:rPr lang="en"/>
              <a:t> - Cannot generate code based on runtime values (only compile-time data).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Overhead for simple cases</a:t>
            </a:r>
            <a:r>
              <a:rPr lang="en"/>
              <a:t> - For very simple scenarios, the overhead of writing a generator may not be justified.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Generators cannot be chained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custom Source Generator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Source Generator </a:t>
            </a:r>
            <a:r>
              <a:rPr lang="en">
                <a:solidFill>
                  <a:srgbClr val="B7B7B7"/>
                </a:solidFill>
              </a:rPr>
              <a:t>- .csproj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863" y="1460500"/>
            <a:ext cx="6790274" cy="25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Source Generator </a:t>
            </a:r>
            <a:r>
              <a:rPr lang="en">
                <a:solidFill>
                  <a:srgbClr val="B7B7B7"/>
                </a:solidFill>
              </a:rPr>
              <a:t>- Generator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75" y="1108075"/>
            <a:ext cx="779145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Source Generator </a:t>
            </a:r>
            <a:r>
              <a:rPr lang="en">
                <a:solidFill>
                  <a:srgbClr val="B7B7B7"/>
                </a:solidFill>
              </a:rPr>
              <a:t>- Generator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3" y="1408250"/>
            <a:ext cx="852487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Source Generator </a:t>
            </a:r>
            <a:r>
              <a:rPr lang="en">
                <a:solidFill>
                  <a:srgbClr val="B7B7B7"/>
                </a:solidFill>
              </a:rPr>
              <a:t>- Generator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09494"/>
            <a:ext cx="8679899" cy="216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Source Generator </a:t>
            </a:r>
            <a:r>
              <a:rPr lang="en">
                <a:solidFill>
                  <a:srgbClr val="B7B7B7"/>
                </a:solidFill>
              </a:rPr>
              <a:t>- Result files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21121"/>
            <a:ext cx="8679901" cy="1936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Source Generator </a:t>
            </a:r>
            <a:r>
              <a:rPr lang="en">
                <a:solidFill>
                  <a:srgbClr val="B7B7B7"/>
                </a:solidFill>
              </a:rPr>
              <a:t>- Result files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71769"/>
            <a:ext cx="8679900" cy="2444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Source Generators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Source Generators </a:t>
            </a:r>
            <a:r>
              <a:rPr lang="en">
                <a:solidFill>
                  <a:srgbClr val="B7B7B7"/>
                </a:solidFill>
              </a:rPr>
              <a:t>- .csproj</a:t>
            </a: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81928"/>
            <a:ext cx="8706351" cy="1401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Source Generators </a:t>
            </a:r>
            <a:r>
              <a:rPr lang="en">
                <a:solidFill>
                  <a:srgbClr val="B7B7B7"/>
                </a:solidFill>
              </a:rPr>
              <a:t>- Transformer</a:t>
            </a:r>
            <a:endParaRPr/>
          </a:p>
        </p:txBody>
      </p:sp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9137" y="1017725"/>
            <a:ext cx="5765724" cy="396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Source Generators </a:t>
            </a:r>
            <a:r>
              <a:rPr lang="en">
                <a:solidFill>
                  <a:srgbClr val="B7B7B7"/>
                </a:solidFill>
              </a:rPr>
              <a:t>- Usage</a:t>
            </a:r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875" y="1223950"/>
            <a:ext cx="7134225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Source Generators </a:t>
            </a:r>
            <a:r>
              <a:rPr lang="en">
                <a:solidFill>
                  <a:srgbClr val="B7B7B7"/>
                </a:solidFill>
              </a:rPr>
              <a:t>- Result</a:t>
            </a:r>
            <a:endParaRPr/>
          </a:p>
        </p:txBody>
      </p:sp>
      <p:pic>
        <p:nvPicPr>
          <p:cNvPr id="161" name="Google Shape;1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50" y="1170125"/>
            <a:ext cx="3122095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3820" y="1170125"/>
            <a:ext cx="39777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demonstration of Source Generators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Source Generators </a:t>
            </a:r>
            <a:r>
              <a:rPr lang="en">
                <a:solidFill>
                  <a:srgbClr val="B7B7B7"/>
                </a:solidFill>
              </a:rPr>
              <a:t>- JsonSerialization</a:t>
            </a:r>
            <a:endParaRPr/>
          </a:p>
        </p:txBody>
      </p:sp>
      <p:pic>
        <p:nvPicPr>
          <p:cNvPr id="173" name="Google Shape;1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675" y="1243526"/>
            <a:ext cx="4437900" cy="33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200" y="1416027"/>
            <a:ext cx="4127875" cy="305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Source Generators </a:t>
            </a:r>
            <a:r>
              <a:rPr lang="en">
                <a:solidFill>
                  <a:srgbClr val="B7B7B7"/>
                </a:solidFill>
              </a:rPr>
              <a:t>- LoggerMessage</a:t>
            </a:r>
            <a:endParaRPr/>
          </a:p>
        </p:txBody>
      </p:sp>
      <p:pic>
        <p:nvPicPr>
          <p:cNvPr id="180" name="Google Shape;1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313" y="1166828"/>
            <a:ext cx="4869425" cy="35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25" y="1206725"/>
            <a:ext cx="3774512" cy="347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Source Generators</a:t>
            </a:r>
            <a:r>
              <a:rPr lang="en"/>
              <a:t> </a:t>
            </a:r>
            <a:r>
              <a:rPr lang="en">
                <a:solidFill>
                  <a:srgbClr val="B7B7B7"/>
                </a:solidFill>
              </a:rPr>
              <a:t>- Regex</a:t>
            </a:r>
            <a:endParaRPr/>
          </a:p>
        </p:txBody>
      </p:sp>
      <p:pic>
        <p:nvPicPr>
          <p:cNvPr id="187" name="Google Shape;1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545324" cy="3289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5999" y="1461888"/>
            <a:ext cx="5141476" cy="270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resources on Source Generators</a:t>
            </a:r>
            <a:endParaRPr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Microsoft | Introducing C# Source Generators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u="sng">
                <a:solidFill>
                  <a:schemeClr val="hlink"/>
                </a:solidFill>
                <a:hlinkClick r:id="rId4"/>
              </a:rPr>
              <a:t>Andrew Lock | Creating an incremental generator series 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u="sng">
                <a:solidFill>
                  <a:schemeClr val="hlink"/>
                </a:solidFill>
                <a:hlinkClick r:id="rId5"/>
              </a:rPr>
              <a:t>GitHub | C# Source Generators </a:t>
            </a:r>
            <a:endParaRPr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  <p:sp>
        <p:nvSpPr>
          <p:cNvPr id="200" name="Google Shape;200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on Source Generators?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491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repository</a:t>
            </a:r>
            <a:endParaRPr/>
          </a:p>
        </p:txBody>
      </p:sp>
      <p:pic>
        <p:nvPicPr>
          <p:cNvPr id="206" name="Google Shape;20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975" y="460375"/>
            <a:ext cx="4222750" cy="42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